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Delta % (Ilustrativo)</c:v>
                </c:pt>
              </c:strCache>
            </c:strRef>
          </c:tx>
          <c:spPr>
            <a:solidFill>
              <a:srgbClr val="008A99"/>
            </a:solidFill>
          </c:spPr>
          <c:cat>
            <c:strRef>
              <c:f>Sheet1!$A$2:$A$4</c:f>
              <c:strCache>
                <c:ptCount val="3"/>
                <c:pt idx="0">
                  <c:v>Ventas</c:v>
                </c:pt>
                <c:pt idx="1">
                  <c:v>Eficiencia</c:v>
                </c:pt>
                <c:pt idx="2">
                  <c:v>Satisfaccion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86.99</c:v>
                </c:pt>
                <c:pt idx="1">
                  <c:v>86.48</c:v>
                </c:pt>
                <c:pt idx="2">
                  <c:v>20.57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Probabilidad de ganar (Ilustrativo)</c:v>
                </c:pt>
              </c:strCache>
            </c:strRef>
          </c:tx>
          <c:spPr>
            <a:solidFill>
              <a:srgbClr val="0F223F"/>
            </a:solidFill>
          </c:spPr>
          <c:cat>
            <c:strRef>
              <c:f>Sheet1!$A$2:$A$4</c:f>
              <c:strCache>
                <c:ptCount val="3"/>
                <c:pt idx="0">
                  <c:v>Ventas</c:v>
                </c:pt>
                <c:pt idx="1">
                  <c:v>Eficiencia</c:v>
                </c:pt>
                <c:pt idx="2">
                  <c:v>Satisfaccion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80.45</c:v>
                </c:pt>
                <c:pt idx="1">
                  <c:v>82.14</c:v>
                </c:pt>
                <c:pt idx="2">
                  <c:v>99.96000000000001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00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8992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600">
                <a:solidFill>
                  <a:srgbClr val="FFFFFF"/>
                </a:solidFill>
                <a:latin typeface="Calibri"/>
              </a:defRPr>
            </a:pPr>
            <a:r>
              <a:t>Propuesta de Piloto</a:t>
            </a:r>
            <a:br/>
            <a:r>
              <a:t>Optimizacion Comercial con IA</a:t>
            </a:r>
          </a:p>
          <a:p>
            <a:pPr>
              <a:defRPr sz="2000">
                <a:solidFill>
                  <a:srgbClr val="DAE2EF"/>
                </a:solidFill>
                <a:latin typeface="Calibri"/>
              </a:defRPr>
            </a:pPr>
            <a:r>
              <a:t>Plan de ejecucion para demostrar valor vs gestion heuristica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2356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Calibri"/>
              </a:defRPr>
            </a:pPr>
            <a:r>
              <a:t>Cliente: Direccion de Ventas | Horizonte piloto: 40 dias | Nota: resultados iniciales con datos sinteticos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8368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  <a:latin typeface="Calibri"/>
              </a:defRPr>
            </a:pPr>
            <a:r>
              <a:t>Documento de propuesta para decision de piloto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836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Calibri"/>
              </a:defRPr>
            </a:pPr>
            <a:r>
              <a:t>08/02/2026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Resumen Ejecutivo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Calibri"/>
              </a:defRPr>
            </a:pPr>
            <a:r>
              <a:t>Que se ha construido y por que importa para el negocio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128016"/>
            <a:ext cx="2697480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  <a:latin typeface="Calibri"/>
              </a:defRPr>
            </a:pPr>
            <a:r>
              <a:t>ILUSTRATIVO (datos sinteticos)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657600" cy="1600200"/>
          </a:xfrm>
          <a:prstGeom prst="roundRect">
            <a:avLst/>
          </a:prstGeom>
          <a:solidFill>
            <a:srgbClr val="F7FAFD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F223F"/>
                </a:solidFill>
                <a:latin typeface="Calibri"/>
              </a:defRPr>
            </a:pPr>
            <a:r>
              <a:t>Ventas</a:t>
            </a:r>
          </a:p>
          <a:p>
            <a:pPr>
              <a:defRPr b="1" sz="2200">
                <a:solidFill>
                  <a:srgbClr val="008A99"/>
                </a:solidFill>
                <a:latin typeface="Calibri"/>
              </a:defRPr>
            </a:pPr>
            <a:r>
              <a:t>Ilustrativo +87.0%</a:t>
            </a:r>
          </a:p>
          <a:p>
            <a:pPr>
              <a:defRPr sz="1100">
                <a:solidFill>
                  <a:srgbClr val="5F6978"/>
                </a:solidFill>
                <a:latin typeface="Calibri"/>
              </a:defRPr>
            </a:pPr>
            <a:r>
              <a:t>vs estrategia heuristica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657600" cy="1600200"/>
          </a:xfrm>
          <a:prstGeom prst="roundRect">
            <a:avLst/>
          </a:prstGeom>
          <a:solidFill>
            <a:srgbClr val="F7FAFD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F223F"/>
                </a:solidFill>
                <a:latin typeface="Calibri"/>
              </a:defRPr>
            </a:pPr>
            <a:r>
              <a:t>Eficiencia</a:t>
            </a:r>
          </a:p>
          <a:p>
            <a:pPr>
              <a:defRPr b="1" sz="2200">
                <a:solidFill>
                  <a:srgbClr val="008A99"/>
                </a:solidFill>
                <a:latin typeface="Calibri"/>
              </a:defRPr>
            </a:pPr>
            <a:r>
              <a:t>Ilustrativo +86.5%</a:t>
            </a:r>
          </a:p>
          <a:p>
            <a:pPr>
              <a:defRPr sz="1100">
                <a:solidFill>
                  <a:srgbClr val="5F6978"/>
                </a:solidFill>
                <a:latin typeface="Calibri"/>
              </a:defRPr>
            </a:pPr>
            <a:r>
              <a:t>ventas por hora de servicio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417320"/>
            <a:ext cx="3657600" cy="1600200"/>
          </a:xfrm>
          <a:prstGeom prst="roundRect">
            <a:avLst/>
          </a:prstGeom>
          <a:solidFill>
            <a:srgbClr val="F7FAFD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F223F"/>
                </a:solidFill>
                <a:latin typeface="Calibri"/>
              </a:defRPr>
            </a:pPr>
            <a:r>
              <a:t>Satisfaccion</a:t>
            </a:r>
          </a:p>
          <a:p>
            <a:pPr>
              <a:defRPr b="1" sz="2200">
                <a:solidFill>
                  <a:srgbClr val="008A99"/>
                </a:solidFill>
                <a:latin typeface="Calibri"/>
              </a:defRPr>
            </a:pPr>
            <a:r>
              <a:t>Ilustrativo +20.6%</a:t>
            </a:r>
          </a:p>
          <a:p>
            <a:pPr>
              <a:defRPr sz="1100">
                <a:solidFill>
                  <a:srgbClr val="5F6978"/>
                </a:solidFill>
                <a:latin typeface="Calibri"/>
              </a:defRPr>
            </a:pPr>
            <a:r>
              <a:t>CSAT post visita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8212D"/>
                </a:solidFill>
                <a:latin typeface="Calibri"/>
              </a:defRPr>
            </a:pPr>
            <a:r>
              <a:t>1. Ya existe una solucion end-to-end: pipeline + app + QA research-grade.</a:t>
            </a:r>
          </a:p>
          <a:p>
            <a:pPr>
              <a:defRPr sz="1400">
                <a:solidFill>
                  <a:srgbClr val="18212D"/>
                </a:solidFill>
                <a:latin typeface="Calibri"/>
              </a:defRPr>
            </a:pPr>
            <a:r>
              <a:t>2. El experimento compara algoritmo vs heuristico en unidades pareadas de rep-dia.</a:t>
            </a:r>
          </a:p>
          <a:p>
            <a:pPr>
              <a:defRPr sz="1400">
                <a:solidFill>
                  <a:srgbClr val="18212D"/>
                </a:solidFill>
                <a:latin typeface="Calibri"/>
              </a:defRPr>
            </a:pPr>
            <a:r>
              <a:t>3. El piloto propuesto con 2 comerciales valida valor real antes de escalar.</a:t>
            </a:r>
          </a:p>
          <a:p>
            <a:pPr>
              <a:defRPr sz="1400">
                <a:solidFill>
                  <a:srgbClr val="18212D"/>
                </a:solidFill>
                <a:latin typeface="Calibri"/>
              </a:defRPr>
            </a:pPr>
            <a:r>
              <a:t>4. La toma de decision final se basara en KPIs, significancia estadistica y adopcion comercial.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8368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  <a:latin typeface="Calibri"/>
              </a:defRPr>
            </a:pPr>
            <a:r>
              <a:t>Fuente: OptimAI | Datos sinteticos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5836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Calibri"/>
              </a:defRPr>
            </a:pPr>
            <a:r>
              <a:t>08/02/2026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Contexto de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Calibri"/>
              </a:defRPr>
            </a:pPr>
            <a:r>
              <a:t>Problema actual y oportunidad de mejora en gestion comercial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623560" cy="5074920"/>
          </a:xfrm>
          <a:prstGeom prst="rect">
            <a:avLst/>
          </a:prstGeom>
          <a:solidFill>
            <a:srgbClr val="F8FAFD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55080" y="1280160"/>
            <a:ext cx="5212080" cy="5074920"/>
          </a:xfrm>
          <a:prstGeom prst="rect">
            <a:avLst/>
          </a:prstGeom>
          <a:solidFill>
            <a:srgbClr val="F8FAFD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72768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8212D"/>
                </a:solidFill>
                <a:latin typeface="Calibri"/>
              </a:defRPr>
            </a:pPr>
            <a:r>
              <a:t>Situacion tipica (heuristica):</a:t>
            </a:r>
          </a:p>
          <a:p>
            <a:pPr>
              <a:defRPr sz="1400">
                <a:solidFill>
                  <a:srgbClr val="18212D"/>
                </a:solidFill>
                <a:latin typeface="Calibri"/>
              </a:defRPr>
            </a:pPr>
            <a:r>
              <a:t>- Priorizacion subjetiva de cuentas y visitas.</a:t>
            </a:r>
          </a:p>
          <a:p>
            <a:pPr>
              <a:defRPr sz="1400">
                <a:solidFill>
                  <a:srgbClr val="18212D"/>
                </a:solidFill>
                <a:latin typeface="Calibri"/>
              </a:defRPr>
            </a:pPr>
            <a:r>
              <a:t>- Variabilidad alta entre comerciales.</a:t>
            </a:r>
          </a:p>
          <a:p>
            <a:pPr>
              <a:defRPr sz="1400">
                <a:solidFill>
                  <a:srgbClr val="18212D"/>
                </a:solidFill>
                <a:latin typeface="Calibri"/>
              </a:defRPr>
            </a:pPr>
            <a:r>
              <a:t>- Coste de desplazamiento no optimizado.</a:t>
            </a:r>
          </a:p>
          <a:p>
            <a:pPr>
              <a:defRPr sz="1400">
                <a:solidFill>
                  <a:srgbClr val="18212D"/>
                </a:solidFill>
                <a:latin typeface="Calibri"/>
              </a:defRPr>
            </a:pPr>
            <a:r>
              <a:t>- Seguimiento parcial de valor por visita.</a:t>
            </a:r>
          </a:p>
          <a:p>
            <a:pPr>
              <a:defRPr sz="1400">
                <a:solidFill>
                  <a:srgbClr val="18212D"/>
                </a:solidFill>
                <a:latin typeface="Calibri"/>
              </a:defRPr>
            </a:pPr>
            <a:r>
              <a:t>- Aprendizaje lento y dificil de escalar.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572768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8212D"/>
                </a:solidFill>
                <a:latin typeface="Calibri"/>
              </a:defRPr>
            </a:pPr>
            <a:r>
              <a:t>Oportunidad con OptimAI:</a:t>
            </a:r>
          </a:p>
          <a:p>
            <a:pPr>
              <a:defRPr sz="1400">
                <a:solidFill>
                  <a:srgbClr val="18212D"/>
                </a:solidFill>
                <a:latin typeface="Calibri"/>
              </a:defRPr>
            </a:pPr>
            <a:r>
              <a:t>- Priorizacion sistematica de cuentas por potencial/riesgo.</a:t>
            </a:r>
          </a:p>
          <a:p>
            <a:pPr>
              <a:defRPr sz="1400">
                <a:solidFill>
                  <a:srgbClr val="18212D"/>
                </a:solidFill>
                <a:latin typeface="Calibri"/>
              </a:defRPr>
            </a:pPr>
            <a:r>
              <a:t>- Rutas con mejor relacion valor vs desplazamiento.</a:t>
            </a:r>
          </a:p>
          <a:p>
            <a:pPr>
              <a:defRPr sz="1400">
                <a:solidFill>
                  <a:srgbClr val="18212D"/>
                </a:solidFill>
                <a:latin typeface="Calibri"/>
              </a:defRPr>
            </a:pPr>
            <a:r>
              <a:t>- Guias de visita (AIDA) personalizadas por contexto.</a:t>
            </a:r>
          </a:p>
          <a:p>
            <a:pPr>
              <a:defRPr sz="1400">
                <a:solidFill>
                  <a:srgbClr val="18212D"/>
                </a:solidFill>
                <a:latin typeface="Calibri"/>
              </a:defRPr>
            </a:pPr>
            <a:r>
              <a:t>- Medicion robusta del impacto (ventas, eficiencia, CSAT).</a:t>
            </a:r>
          </a:p>
          <a:p>
            <a:pPr>
              <a:defRPr sz="1400">
                <a:solidFill>
                  <a:srgbClr val="18212D"/>
                </a:solidFill>
                <a:latin typeface="Calibri"/>
              </a:defRPr>
            </a:pPr>
            <a:r>
              <a:t>- Base para escalar una operativa comercial data-driven.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8368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  <a:latin typeface="Calibri"/>
              </a:defRPr>
            </a:pPr>
            <a:r>
              <a:t>Fuente: OptimAI | Datos sinteticos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836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Calibri"/>
              </a:defRPr>
            </a:pPr>
            <a:r>
              <a:t>08/02/2026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Lo Construido Hasta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Calibri"/>
              </a:defRPr>
            </a:pPr>
            <a:r>
              <a:t>Componentes funcionales listos para ejecutar piloto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8212D"/>
                </a:solidFill>
                <a:latin typeface="Calibri"/>
              </a:defRPr>
            </a:pPr>
            <a:r>
              <a:t>Pipeline research-grade (Python): generacion de datos, modelos, NBA, territorios, anomalias, rutas y metricas.</a:t>
            </a:r>
          </a:p>
          <a:p>
            <a:pPr>
              <a:defRPr sz="1300">
                <a:solidFill>
                  <a:srgbClr val="18212D"/>
                </a:solidFill>
                <a:latin typeface="Calibri"/>
              </a:defRPr>
            </a:pPr>
            <a:r>
              <a:t>Canal activo: 100% face-to-face para el piloto actual (alineado al caso de uso).</a:t>
            </a:r>
          </a:p>
          <a:p>
            <a:pPr>
              <a:defRPr sz="1300">
                <a:solidFill>
                  <a:srgbClr val="18212D"/>
                </a:solidFill>
                <a:latin typeface="Calibri"/>
              </a:defRPr>
            </a:pPr>
            <a:r>
              <a:t>Dataset actual: 3600 cuentas sinteticas (ILUSTRATIVO).</a:t>
            </a:r>
          </a:p>
          <a:p>
            <a:pPr>
              <a:defRPr sz="1300">
                <a:solidFill>
                  <a:srgbClr val="18212D"/>
                </a:solidFill>
                <a:latin typeface="Calibri"/>
              </a:defRPr>
            </a:pPr>
            <a:r>
              <a:t>Modelos principales: churn y potencial (Gradient Boosting).</a:t>
            </a:r>
          </a:p>
          <a:p>
            <a:pPr>
              <a:defRPr sz="1300">
                <a:solidFill>
                  <a:srgbClr val="18212D"/>
                </a:solidFill>
                <a:latin typeface="Calibri"/>
              </a:defRPr>
            </a:pPr>
            <a:r>
              <a:t>Comparador de estrategias: heuristica vs algoritmica con diseno pareado por rep-dia.</a:t>
            </a:r>
          </a:p>
          <a:p>
            <a:pPr>
              <a:defRPr sz="1300">
                <a:solidFill>
                  <a:srgbClr val="18212D"/>
                </a:solidFill>
                <a:latin typeface="Calibri"/>
              </a:defRPr>
            </a:pPr>
            <a:r>
              <a:t>App Streamlit: tablero ejecutivo, mapas de ruta, auditoria de decisiones y analitica estadistica.</a:t>
            </a:r>
          </a:p>
          <a:p>
            <a:pPr>
              <a:defRPr sz="1300">
                <a:solidFill>
                  <a:srgbClr val="18212D"/>
                </a:solidFill>
                <a:latin typeface="Calibri"/>
              </a:defRPr>
            </a:pPr>
            <a:r>
              <a:t>Motor de guiones de visita: AIDA con OpenAI, adaptado al contexto del cliente y siguiente mejor accion.</a:t>
            </a:r>
          </a:p>
          <a:p>
            <a:pPr>
              <a:defRPr sz="1300">
                <a:solidFill>
                  <a:srgbClr val="18212D"/>
                </a:solidFill>
                <a:latin typeface="Calibri"/>
              </a:defRPr>
            </a:pPr>
            <a:r>
              <a:t>QA software engineering: tests automatizados, smoke test de app y quality gates de datos/modelo.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623560"/>
            <a:ext cx="10972800" cy="685800"/>
          </a:xfrm>
          <a:prstGeom prst="roundRect">
            <a:avLst/>
          </a:prstGeom>
          <a:solidFill>
            <a:srgbClr val="FFF7E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8350F"/>
                </a:solidFill>
                <a:latin typeface="Calibri"/>
              </a:defRPr>
            </a:pPr>
            <a:r>
              <a:t>Nota clave: las cifras actuales de impacto deben leerse como ILUSTRATIVO hasta que se conecte historico real de la gestion heuristica y se ejecute el piloto en operacion real.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  <a:latin typeface="Calibri"/>
              </a:defRPr>
            </a:pPr>
            <a:r>
              <a:t>Fuente: OptimAI | Datos sinteticos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836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Calibri"/>
              </a:defRPr>
            </a:pPr>
            <a:r>
              <a:t>08/02/2026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Resultados Iniciales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Calibri"/>
              </a:defRPr>
            </a:pPr>
            <a:r>
              <a:t>Comparativa de valor: algoritmo vs heuristica (ILUSTRATIVO)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128016"/>
            <a:ext cx="2697480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  <a:latin typeface="Calibri"/>
              </a:defRPr>
            </a:pPr>
            <a:r>
              <a:t>ILUSTRATIVO (datos sinteticos)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109728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3721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0F2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Heuristico</a:t>
                      </a:r>
                    </a:p>
                  </a:txBody>
                  <a:tcPr>
                    <a:solidFill>
                      <a:srgbClr val="0F2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Algoritmico</a:t>
                      </a:r>
                    </a:p>
                  </a:txBody>
                  <a:tcPr>
                    <a:solidFill>
                      <a:srgbClr val="0F2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</a:t>
                      </a:r>
                    </a:p>
                  </a:txBody>
                  <a:tcPr>
                    <a:solidFill>
                      <a:srgbClr val="0F2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 %</a:t>
                      </a:r>
                    </a:p>
                  </a:txBody>
                  <a:tcPr>
                    <a:solidFill>
                      <a:srgbClr val="0F223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Ventas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6.867,98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12.842,41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5.974,42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Ilustrativo 87.0%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Eficiencia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1.201,71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2.240,93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1.039,21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Ilustrativo 86.5%</a:t>
                      </a:r>
                    </a:p>
                  </a:txBody>
                  <a:tcPr/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Satisfaccion cliente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5,02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6,05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1,03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Ilustrativo 20.6%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3703320"/>
          <a:ext cx="548640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63640" y="3703320"/>
          <a:ext cx="5257800" cy="2331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8368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  <a:latin typeface="Calibri"/>
              </a:defRPr>
            </a:pPr>
            <a:r>
              <a:t>Fuente: OptimAI | Datos sinteticos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836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Calibri"/>
              </a:defRPr>
            </a:pPr>
            <a:r>
              <a:t>08/02/2026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Rigor Metodologico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Calibri"/>
              </a:defRPr>
            </a:pPr>
            <a:r>
              <a:t>Como aseguramos que la mejora no es ruido estadistico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128016"/>
            <a:ext cx="2697480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  <a:latin typeface="Calibri"/>
              </a:defRPr>
            </a:pPr>
            <a:r>
              <a:t>ILUSTRATIVO (datos sinteticos)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5577840" cy="4937760"/>
          </a:xfrm>
          <a:prstGeom prst="rect">
            <a:avLst/>
          </a:prstGeom>
          <a:solidFill>
            <a:srgbClr val="F8FAFD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8212D"/>
                </a:solidFill>
                <a:latin typeface="Calibri"/>
              </a:defRPr>
            </a:pPr>
            <a:r>
              <a:t>Diseno experimental:</a:t>
            </a:r>
          </a:p>
          <a:p>
            <a:pPr>
              <a:defRPr sz="1300">
                <a:solidFill>
                  <a:srgbClr val="18212D"/>
                </a:solidFill>
                <a:latin typeface="Calibri"/>
              </a:defRPr>
            </a:pPr>
            <a:r>
              <a:t>- Unidad de analisis: rep-dia pareado.</a:t>
            </a:r>
          </a:p>
          <a:p>
            <a:pPr>
              <a:defRPr sz="1300">
                <a:solidFill>
                  <a:srgbClr val="18212D"/>
                </a:solidFill>
                <a:latin typeface="Calibri"/>
              </a:defRPr>
            </a:pPr>
            <a:r>
              <a:t>- Observaciones pareadas: 24,000 (ILUSTRATIVO).</a:t>
            </a:r>
          </a:p>
          <a:p>
            <a:pPr>
              <a:defRPr sz="1300">
                <a:solidFill>
                  <a:srgbClr val="18212D"/>
                </a:solidFill>
                <a:latin typeface="Calibri"/>
              </a:defRPr>
            </a:pPr>
            <a:r>
              <a:t>- Monte Carlo: 300 corridas (ILUSTRATIVO).</a:t>
            </a:r>
          </a:p>
          <a:p>
            <a:pPr>
              <a:defRPr sz="1300">
                <a:solidFill>
                  <a:srgbClr val="18212D"/>
                </a:solidFill>
                <a:latin typeface="Calibri"/>
              </a:defRPr>
            </a:pPr>
            <a:r>
              <a:t>Pruebas de inferencia:</a:t>
            </a:r>
          </a:p>
          <a:p>
            <a:pPr>
              <a:defRPr sz="1300">
                <a:solidFill>
                  <a:srgbClr val="18212D"/>
                </a:solidFill>
                <a:latin typeface="Calibri"/>
              </a:defRPr>
            </a:pPr>
            <a:r>
              <a:t>- t-test pareado + permutation test.</a:t>
            </a:r>
          </a:p>
          <a:p>
            <a:pPr>
              <a:defRPr sz="1300">
                <a:solidFill>
                  <a:srgbClr val="18212D"/>
                </a:solidFill>
                <a:latin typeface="Calibri"/>
              </a:defRPr>
            </a:pPr>
            <a:r>
              <a:t>- Wilcoxon + sign test.</a:t>
            </a:r>
          </a:p>
          <a:p>
            <a:pPr>
              <a:defRPr sz="1300">
                <a:solidFill>
                  <a:srgbClr val="18212D"/>
                </a:solidFill>
                <a:latin typeface="Calibri"/>
              </a:defRPr>
            </a:pPr>
            <a:r>
              <a:t>- Intervalos bootstrap + FDR q-values.</a:t>
            </a:r>
          </a:p>
          <a:p>
            <a:pPr>
              <a:defRPr sz="1300">
                <a:solidFill>
                  <a:srgbClr val="18212D"/>
                </a:solidFill>
                <a:latin typeface="Calibri"/>
              </a:defRPr>
            </a:pPr>
            <a:r>
              <a:t>- Effect size (Cohen d) y win probability.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1600200"/>
          <a:ext cx="50292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0F2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Cohen d</a:t>
                      </a:r>
                    </a:p>
                  </a:txBody>
                  <a:tcPr>
                    <a:solidFill>
                      <a:srgbClr val="0F2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Win prob.</a:t>
                      </a:r>
                    </a:p>
                  </a:txBody>
                  <a:tcPr>
                    <a:solidFill>
                      <a:srgbClr val="0F2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q-value</a:t>
                      </a:r>
                    </a:p>
                  </a:txBody>
                  <a:tcPr>
                    <a:solidFill>
                      <a:srgbClr val="0F223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Ventas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Ilustrativo 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Ilustrativo 80.5%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Ilustrativo 0.0002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Eficiencia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Ilustrativo 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Ilustrativo 82.1%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Ilustrativo 0.0002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Satisfaccion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Ilustrativo 3.24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Ilustrativo 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Ilustrativo 0.0002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46520" y="4251960"/>
            <a:ext cx="5029200" cy="2011680"/>
          </a:xfrm>
          <a:prstGeom prst="roundRect">
            <a:avLst/>
          </a:prstGeom>
          <a:solidFill>
            <a:srgbClr val="ECFDF5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64E3B"/>
                </a:solidFill>
                <a:latin typeface="Calibri"/>
              </a:defRPr>
            </a:pPr>
            <a:r>
              <a:t>Lectura ejecutiva:</a:t>
            </a:r>
            <a:br/>
            <a:r>
              <a:t>La evidencia ILUSTRATIVA favorece al algoritmo en los 3 KPIs.</a:t>
            </a:r>
            <a:br/>
            <a:r>
              <a:t>El objetivo del piloto real es validar este patron con historico y ejecucion real.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8368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  <a:latin typeface="Calibri"/>
              </a:defRPr>
            </a:pPr>
            <a:r>
              <a:t>Fuente: OptimAI | Datos sinteticos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5836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Calibri"/>
              </a:defRPr>
            </a:pPr>
            <a:r>
              <a:t>08/02/2026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Diseno del Piloto con 2 Comerciales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Calibri"/>
              </a:defRPr>
            </a:pPr>
            <a:r>
              <a:t>Blueprint de ejecucion para demostrar valor en campo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8212D"/>
                </a:solidFill>
                <a:latin typeface="Calibri"/>
              </a:defRPr>
            </a:pPr>
            <a:r>
              <a:t>Comerciales piloto: 12, 5 | Duracion objetivo: 40 dias | Diseño A/B por estrategia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789920" cy="804672"/>
          </a:xfrm>
          <a:prstGeom prst="roundRect">
            <a:avLst/>
          </a:prstGeom>
          <a:solidFill>
            <a:srgbClr val="F7FAFD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23F"/>
                </a:solidFill>
                <a:latin typeface="Calibri"/>
              </a:defRPr>
            </a:pPr>
            <a:r>
              <a:t>1. Baseline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Recolectar 4 semanas de operacion heuristica real (ventas, horas, CSAT, rutas).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770632"/>
            <a:ext cx="10789920" cy="804672"/>
          </a:xfrm>
          <a:prstGeom prst="roundRect">
            <a:avLst/>
          </a:prstGeom>
          <a:solidFill>
            <a:srgbClr val="F7FAFD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23F"/>
                </a:solidFill>
                <a:latin typeface="Calibri"/>
              </a:defRPr>
            </a:pPr>
            <a:r>
              <a:t>2. Setup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Configurar parametros de capacidad, territorios y reglas comerciales en OptimAI.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712464"/>
            <a:ext cx="10789920" cy="804672"/>
          </a:xfrm>
          <a:prstGeom prst="roundRect">
            <a:avLst/>
          </a:prstGeom>
          <a:solidFill>
            <a:srgbClr val="F7FAFD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23F"/>
                </a:solidFill>
                <a:latin typeface="Calibri"/>
              </a:defRPr>
            </a:pPr>
            <a:r>
              <a:t>3. Ejecucion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Operar estrategia algoritmica por 6 semanas con seguimiento semanal.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654296"/>
            <a:ext cx="10789920" cy="804672"/>
          </a:xfrm>
          <a:prstGeom prst="roundRect">
            <a:avLst/>
          </a:prstGeom>
          <a:solidFill>
            <a:srgbClr val="F7FAFD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23F"/>
                </a:solidFill>
                <a:latin typeface="Calibri"/>
              </a:defRPr>
            </a:pPr>
            <a:r>
              <a:t>4. Medicion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Comparar contra baseline con inferencia estadistica y lectura de negocio.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596128"/>
            <a:ext cx="10789920" cy="804672"/>
          </a:xfrm>
          <a:prstGeom prst="roundRect">
            <a:avLst/>
          </a:prstGeom>
          <a:solidFill>
            <a:srgbClr val="F7FAFD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23F"/>
                </a:solidFill>
                <a:latin typeface="Calibri"/>
              </a:defRPr>
            </a:pPr>
            <a:r>
              <a:t>5. Escalado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Definir caso de negocio y plan de despliegue por oleadas si se cumplen umbrales.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  <a:latin typeface="Calibri"/>
              </a:defRPr>
            </a:pPr>
            <a:r>
              <a:t>Fuente: OptimAI | Datos sinteticos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5836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Calibri"/>
              </a:defRPr>
            </a:pPr>
            <a:r>
              <a:t>08/02/2026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Metodologia Research-Grade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Calibri"/>
              </a:defRPr>
            </a:pPr>
            <a:r>
              <a:t>Gobierno de datos, modelo, experimentacion y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2788920" cy="4389120"/>
          </a:xfrm>
          <a:prstGeom prst="rect">
            <a:avLst/>
          </a:prstGeom>
          <a:solidFill>
            <a:srgbClr val="F8FAFD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008A99"/>
                </a:solidFill>
                <a:latin typeface="Calibri"/>
              </a:defRPr>
            </a:pPr>
            <a:r>
              <a:t>Datos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- Definicion de esquema maestro.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- Quality gates y trazabilidad.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- Control de missingness y outliers.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520439" y="1508760"/>
            <a:ext cx="2788920" cy="4389120"/>
          </a:xfrm>
          <a:prstGeom prst="rect">
            <a:avLst/>
          </a:prstGeom>
          <a:solidFill>
            <a:srgbClr val="F8FAFD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008A99"/>
                </a:solidFill>
                <a:latin typeface="Calibri"/>
              </a:defRPr>
            </a:pPr>
            <a:r>
              <a:t>Modelos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- Churn + potencial + NBA.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- Validacion cruzada y metricas.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- Revision de drift y sesgos.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508760"/>
            <a:ext cx="2788920" cy="4389120"/>
          </a:xfrm>
          <a:prstGeom prst="rect">
            <a:avLst/>
          </a:prstGeom>
          <a:solidFill>
            <a:srgbClr val="F8FAFD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008A99"/>
                </a:solidFill>
                <a:latin typeface="Calibri"/>
              </a:defRPr>
            </a:pPr>
            <a:r>
              <a:t>Operacion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- Asignacion territorial.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- Optimización de rutas.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- Guiones AIDA por visita.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9281160" y="1508760"/>
            <a:ext cx="2788920" cy="4389120"/>
          </a:xfrm>
          <a:prstGeom prst="rect">
            <a:avLst/>
          </a:prstGeom>
          <a:solidFill>
            <a:srgbClr val="F8FAFD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008A99"/>
                </a:solidFill>
                <a:latin typeface="Calibri"/>
              </a:defRPr>
            </a:pPr>
            <a:r>
              <a:t>QA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- Test suite automatizada.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- Smoke test de app.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- Reporte QA reproducible.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6035040"/>
            <a:ext cx="10972800" cy="502920"/>
          </a:xfrm>
          <a:prstGeom prst="roundRect">
            <a:avLst/>
          </a:prstGeom>
          <a:solidFill>
            <a:srgbClr val="EAF6F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C4A6E"/>
                </a:solidFill>
                <a:latin typeface="Calibri"/>
              </a:defRPr>
            </a:pPr>
            <a:r>
              <a:t>Principio rector: decisiones comerciales medibles, auditables y estadisticamente defendibles.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8368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  <a:latin typeface="Calibri"/>
              </a:defRPr>
            </a:pPr>
            <a:r>
              <a:t>Fuente: OptimAI | Datos sinteticos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5836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Calibri"/>
              </a:defRPr>
            </a:pPr>
            <a:r>
              <a:t>08/02/2026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Equipo, Recursos y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Calibri"/>
              </a:defRPr>
            </a:pPr>
            <a:r>
              <a:t>Dimensionamiento minimo para ejecutar piloto con rigor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17320"/>
          <a:ext cx="109728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09451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</a:t>
                      </a:r>
                    </a:p>
                  </a:txBody>
                  <a:tcPr>
                    <a:solidFill>
                      <a:srgbClr val="0F2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Dedicacion</a:t>
                      </a:r>
                    </a:p>
                  </a:txBody>
                  <a:tcPr>
                    <a:solidFill>
                      <a:srgbClr val="0F2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Responsabilidades</a:t>
                      </a:r>
                    </a:p>
                  </a:txBody>
                  <a:tcPr>
                    <a:solidFill>
                      <a:srgbClr val="0F2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0F223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Sponsor negocio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1-2h/sem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Alineacion de objetivos, desbloqueo y decisiones.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Cliente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Head of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4h/sem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Gobierno comercial y adopcion por fuerza de ventas.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Cliente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Sales 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6h/sem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Extraccion de datos, reglas operativas y seguimiento.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Cliente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Data Scientist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Modelado, monitoreo y analitica inferencial.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OptimAI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ML/Backend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Pipeline, integraciones y automatizacion.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OptimAI</a:t>
                      </a:r>
                    </a:p>
                  </a:txBody>
                  <a:tcPr/>
                </a:tc>
              </a:tr>
              <a:tr h="50945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Change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Capacitacion comercial, feedback y adopcion.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Mixto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21208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Recursos tecnicos: Python, Streamlit, repositorio Git, API OpenAI, dashboard de seguimiento semanal.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Requisito clave: acceso a historico heuristico real para medir delta pre/post con maxima credibilidad.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  <a:latin typeface="Calibri"/>
              </a:defRPr>
            </a:pPr>
            <a:r>
              <a:t>Fuente: OptimAI | Datos sinteticos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836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Calibri"/>
              </a:defRPr>
            </a:pPr>
            <a:r>
              <a:t>08/02/2026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Plan y Duracion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Calibri"/>
              </a:defRPr>
            </a:pPr>
            <a:r>
              <a:t>Roadmap propuesto de 12 semanas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00200"/>
            <a:ext cx="10927080" cy="777240"/>
          </a:xfrm>
          <a:prstGeom prst="rect">
            <a:avLst/>
          </a:prstGeom>
          <a:solidFill>
            <a:srgbClr val="F0F9FF"/>
          </a:solidFill>
          <a:ln>
            <a:solidFill>
              <a:srgbClr val="CFD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F223F"/>
                </a:solidFill>
                <a:latin typeface="Calibri"/>
              </a:defRPr>
            </a:pPr>
            <a:r>
              <a:t>Semana 1-2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Alineacion, calidad de datos y baseline heuristico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468880"/>
            <a:ext cx="10927080" cy="777240"/>
          </a:xfrm>
          <a:prstGeom prst="rect">
            <a:avLst/>
          </a:prstGeom>
          <a:solidFill>
            <a:srgbClr val="F8FAFD"/>
          </a:solidFill>
          <a:ln>
            <a:solidFill>
              <a:srgbClr val="CFD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F223F"/>
                </a:solidFill>
                <a:latin typeface="Calibri"/>
              </a:defRPr>
            </a:pPr>
            <a:r>
              <a:t>Semana 3-4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Configuracion OptimAI y UAT con equipo comercial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337560"/>
            <a:ext cx="10927080" cy="777240"/>
          </a:xfrm>
          <a:prstGeom prst="rect">
            <a:avLst/>
          </a:prstGeom>
          <a:solidFill>
            <a:srgbClr val="F0F9FF"/>
          </a:solidFill>
          <a:ln>
            <a:solidFill>
              <a:srgbClr val="CFD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F223F"/>
                </a:solidFill>
                <a:latin typeface="Calibri"/>
              </a:defRPr>
            </a:pPr>
            <a:r>
              <a:t>Semana 5-10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Ejecucion piloto en campo + comites semanales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206240"/>
            <a:ext cx="10927080" cy="777240"/>
          </a:xfrm>
          <a:prstGeom prst="rect">
            <a:avLst/>
          </a:prstGeom>
          <a:solidFill>
            <a:srgbClr val="F8FAFD"/>
          </a:solidFill>
          <a:ln>
            <a:solidFill>
              <a:srgbClr val="CFD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F223F"/>
                </a:solidFill>
                <a:latin typeface="Calibri"/>
              </a:defRPr>
            </a:pPr>
            <a:r>
              <a:t>Semana 11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Analisis estadistico final y business 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074920"/>
            <a:ext cx="10927080" cy="777240"/>
          </a:xfrm>
          <a:prstGeom prst="rect">
            <a:avLst/>
          </a:prstGeom>
          <a:solidFill>
            <a:srgbClr val="F0F9FF"/>
          </a:solidFill>
          <a:ln>
            <a:solidFill>
              <a:srgbClr val="CFD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F223F"/>
                </a:solidFill>
                <a:latin typeface="Calibri"/>
              </a:defRPr>
            </a:pPr>
            <a:r>
              <a:t>Semana 12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Decision de escalado y plan de despliegue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989320"/>
            <a:ext cx="10927080" cy="548640"/>
          </a:xfrm>
          <a:prstGeom prst="roundRect">
            <a:avLst/>
          </a:prstGeom>
          <a:solidFill>
            <a:srgbClr val="FFF7E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78350F"/>
                </a:solidFill>
                <a:latin typeface="Calibri"/>
              </a:defRPr>
            </a:pPr>
            <a:r>
              <a:t>Hito de go/no-go: final de semana 12, con KPIs, significancia y feedback de adopcion comercial.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  <a:latin typeface="Calibri"/>
              </a:defRPr>
            </a:pPr>
            <a:r>
              <a:t>Fuente: OptimAI | Datos sinteticos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5836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Calibri"/>
              </a:defRPr>
            </a:pPr>
            <a:r>
              <a:t>08/02/2026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Riesgos y Mitigaciones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Calibri"/>
              </a:defRPr>
            </a:pPr>
            <a:r>
              <a:t>Control de ejecucion para proteger el valor del piloto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371600"/>
          <a:ext cx="107899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7010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Riesgo</a:t>
                      </a:r>
                    </a:p>
                  </a:txBody>
                  <a:tcPr>
                    <a:solidFill>
                      <a:srgbClr val="0F2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Impacto</a:t>
                      </a:r>
                    </a:p>
                  </a:txBody>
                  <a:tcPr>
                    <a:solidFill>
                      <a:srgbClr val="0F2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Mitigacion</a:t>
                      </a:r>
                    </a:p>
                  </a:txBody>
                  <a:tcPr>
                    <a:solidFill>
                      <a:srgbClr val="0F223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Datos historicos incompletos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Reduce credibilidad del before/after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Data contract semanal, checks automaticos y ownership claro.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Baja adopcion de comerciales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Dilucion del impacto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Capacitacion + coaching + feedback loop semanal.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Cambios operativos durante piloto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Sesgo de comparacion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Congelar reglas comerciales criticas durante 12 semanas.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Expectativas de ROI no alineadas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Decision tardia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Definir umbrales go/no-go antes del arranque.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Riesgo de sobreajuste de mensajes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Calidad comercial inconsistente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8212D"/>
                          </a:solidFill>
                          <a:latin typeface="Calibri"/>
                        </a:defRPr>
                      </a:pPr>
                      <a:r>
                        <a:t>Guidelines de tono, compliance y revision por manager.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5760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Gobernanza recomendada: Steering Committee quincenal + PMO semanal + dashboard unico de decision.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  <a:latin typeface="Calibri"/>
              </a:defRPr>
            </a:pPr>
            <a:r>
              <a:t>Fuente: OptimAI | Datos sinteticos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836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Calibri"/>
              </a:defRPr>
            </a:pPr>
            <a:r>
              <a:t>08/02/2026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Marco de Medicion Before vs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Calibri"/>
              </a:defRPr>
            </a:pPr>
            <a:r>
              <a:t>Como se medira el delta de forma robusta y accionable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577840" cy="5120640"/>
          </a:xfrm>
          <a:prstGeom prst="rect">
            <a:avLst/>
          </a:prstGeom>
          <a:solidFill>
            <a:srgbClr val="F8FAFD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55080" y="1417320"/>
            <a:ext cx="5029200" cy="5120640"/>
          </a:xfrm>
          <a:prstGeom prst="rect">
            <a:avLst/>
          </a:prstGeom>
          <a:solidFill>
            <a:srgbClr val="F8FAFD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KPIs primarios: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- Ventas por visita y por jornada.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- Eficiencia (ventas/hora de servicio).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- Satisfaccion cliente post-visita.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KPIs de soporte: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- Tasa de visita efectiva.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- Distancia por conversion.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- Tiempo no productivo en ruta.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- Calidad de script y adherencia comercial.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9164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Reglas de decision sugeridas: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- Ventas: delta &gt;= +8% y q &lt; 0.05.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- Eficiencia: delta &gt;= +10% y q &lt; 0.05.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- CSAT: sin deterioro; idealmente +3% o mas.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- Adopcion comercial &gt;= 80% de visitas con uso del plan.</a:t>
            </a:r>
          </a:p>
          <a:p>
            <a:pPr>
              <a:defRPr sz="1200">
                <a:solidFill>
                  <a:srgbClr val="18212D"/>
                </a:solidFill>
                <a:latin typeface="Calibri"/>
              </a:defRPr>
            </a:pPr>
            <a:r>
              <a:t>- Recomendacion de escalado si se cumplen 3/4 criterios.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8368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  <a:latin typeface="Calibri"/>
              </a:defRPr>
            </a:pPr>
            <a:r>
              <a:t>Fuente: OptimAI | Datos sinteticos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836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Calibri"/>
              </a:defRPr>
            </a:pPr>
            <a:r>
              <a:t>08/02/2026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Decision Solicitada al Owner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Calibri"/>
              </a:defRPr>
            </a:pPr>
            <a:r>
              <a:t>Aprobacion para iniciar piloto controlado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10698480" cy="1143000"/>
          </a:xfrm>
          <a:prstGeom prst="roundRect">
            <a:avLst/>
          </a:prstGeom>
          <a:solidFill>
            <a:srgbClr val="ECFDF5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64E3B"/>
                </a:solidFill>
                <a:latin typeface="Calibri"/>
              </a:defRPr>
            </a:pPr>
            <a:r>
              <a:t>Propuesta: lanzar piloto de 12 semanas con 2 comerciales y baseline real de gestion heuristica.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424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8212D"/>
                </a:solidFill>
                <a:latin typeface="Calibri"/>
              </a:defRPr>
            </a:pPr>
            <a:r>
              <a:t>1. Confirmar sponsor ejecutivo y owner operativo.</a:t>
            </a:r>
          </a:p>
          <a:p>
            <a:pPr>
              <a:defRPr sz="1400">
                <a:solidFill>
                  <a:srgbClr val="18212D"/>
                </a:solidFill>
                <a:latin typeface="Calibri"/>
              </a:defRPr>
            </a:pPr>
            <a:r>
              <a:t>2. Habilitar acceso a historico heuristico y feedback comercial semanal.</a:t>
            </a:r>
          </a:p>
          <a:p>
            <a:pPr>
              <a:defRPr sz="1400">
                <a:solidFill>
                  <a:srgbClr val="18212D"/>
                </a:solidFill>
                <a:latin typeface="Calibri"/>
              </a:defRPr>
            </a:pPr>
            <a:r>
              <a:t>3. Validar umbrales de exito y criterios go/no-go antes del kickoff.</a:t>
            </a:r>
          </a:p>
          <a:p>
            <a:pPr>
              <a:defRPr sz="1400">
                <a:solidFill>
                  <a:srgbClr val="18212D"/>
                </a:solidFill>
                <a:latin typeface="Calibri"/>
              </a:defRPr>
            </a:pPr>
            <a:r>
              <a:t>4. Aprobar calendario de comites y mecanismo de seguimiento KPI.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94360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23F"/>
                </a:solidFill>
                <a:latin typeface="Calibri"/>
              </a:defRPr>
            </a:pPr>
            <a:r>
              <a:t>Resultado esperado: evidencia clara para decidir escalado con menor riesgo y mayor retorno comercial.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8368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  <a:latin typeface="Calibri"/>
              </a:defRPr>
            </a:pPr>
            <a:r>
              <a:t>Fuente: OptimAI | Datos sinteticos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836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Calibri"/>
              </a:defRPr>
            </a:pPr>
            <a:r>
              <a:t>08/02/2026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